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 everyone. My topic today is Image Distortion and Its Effect on Processing, part of the Computer Vision course ITA0504. I am Mathusri P, register number 192311363. Over the next few slides I will explain what image distortion is, why it happens, how it affects computer vision processing, and where this matters in real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distortion means the picture a camera captures is not a perfect match of the real scene. There are three broad types: geometric distortion, where shapes bend, like barrel or pincushion effects from a lens; radiometric distortion, which affects brightness and adds noise or blur; and compression artifacts, which appear when an image is compressed for storage or transmission, such as blocky JPEG images. Explain each briefly and give the one-line summary at the end: what the camera sees is not exactly what is really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Distortion can creep in at four stages. First, the lens itself — curved glass bends light unevenly, which is why wide-angle and cheap lenses show obvious warping. Second, the sensor — noise and low resolution corrupt pixel values. Third, the environment — bad lighting, fog, rain, or camera shake distort the scene before capture even finishes. Fourth, compression and transmission — when we compress images to save space or send them over a network, we lose information and get blocky artifacts. Give one everyday example for each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Distortion is not just a visual nuisance — it directly breaks computer vision algorithms. Walk through the left panel: object detection gets less accurate, feature matching fails so panorama stitching or 3D reconstruction breaks, edges become unreliable, OCR misreads text, and self-driving cars miscalculate distance. Then explain the right panel: we correct this using OpenCV's camera calibration and undistort functions, a checkerboard calibration pattern to compute distortion coefficients, MATLAB's image processing toolbox, or Python libraries like PIL and scikit-image for denoising and contrast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real example per box: self-driving cars need undistorted camera feeds in real time to trust their lane and obstacle detection; hospitals correct MRI and X-ray distortion so measurements used for diagnosis are accurate; security and face-recognition cameras correct lens warping so facial features are compared fairly; and drones or satellites correct geometric distortion before the imagery is used for mapping, agriculture, or disaster response. This shows the topic is not just theoretical — it is used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audience, invite questions. Be ready to briefly recap: distortion is any mismatch between the captured image and real scene, it comes from lenses, sensors, environment, and compression, it degrades detection/recognition/OCR/navigation accuracy, and tools like OpenCV and camera calibration correct it — used in self-driving cars, medical imaging, security, and satellite imagery.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005840"/>
            <a:ext cx="4754880" cy="4754880"/>
          </a:xfrm>
          <a:prstGeom prst="ellipse">
            <a:avLst/>
          </a:prstGeom>
          <a:ln w="1905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05088" y="-530352"/>
            <a:ext cx="3803904" cy="3803904"/>
          </a:xfrm>
          <a:prstGeom prst="ellipse">
            <a:avLst/>
          </a:prstGeom>
          <a:ln w="1905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0576" y="-54864"/>
            <a:ext cx="2852928" cy="2852928"/>
          </a:xfrm>
          <a:prstGeom prst="ellipse">
            <a:avLst/>
          </a:prstGeom>
          <a:ln w="1905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56064" y="420624"/>
            <a:ext cx="1901952" cy="1901952"/>
          </a:xfrm>
          <a:prstGeom prst="ellipse">
            <a:avLst/>
          </a:prstGeom>
          <a:ln w="19050">
            <a:solidFill>
              <a:srgbClr val="CADCFC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31552" y="896112"/>
            <a:ext cx="950976" cy="950976"/>
          </a:xfrm>
          <a:prstGeom prst="ellipse">
            <a:avLst/>
          </a:prstGeom>
          <a:ln w="19050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82880" y="4754880"/>
            <a:ext cx="2560320" cy="2560320"/>
          </a:xfrm>
          <a:prstGeom prst="ellipse">
            <a:avLst/>
          </a:prstGeom>
          <a:ln w="1905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840" y="5181600"/>
            <a:ext cx="1706880" cy="1706880"/>
          </a:xfrm>
          <a:prstGeom prst="ellipse">
            <a:avLst/>
          </a:prstGeom>
          <a:ln w="19050">
            <a:solidFill>
              <a:srgbClr val="FF6B35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0560" y="5608320"/>
            <a:ext cx="853440" cy="853440"/>
          </a:xfrm>
          <a:prstGeom prst="ellipse">
            <a:avLst/>
          </a:prstGeom>
          <a:ln w="19050">
            <a:solidFill>
              <a:srgbClr val="FF6B35">
                <a:alpha val="5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188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ITA0504  –  COMPUTER VISION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Distortion and Its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on Processing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Causes, Visual Analysis &amp; Correction Tools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57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Mathusri 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192311363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Image Distortion?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89204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distorted image no longer matches the real scene.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shape, brightness, or clarity has changed.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what the camera sees ≠ what is really there.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95160" y="13990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95160" y="18562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bend — barrel / pincushion warping.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989320" y="310896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95160" y="2999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Radiometric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95160" y="34564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corrupted — noise, blur, low contrast.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989320" y="4709160"/>
            <a:ext cx="777240" cy="777240"/>
          </a:xfrm>
          <a:prstGeom prst="ellipse">
            <a:avLst/>
          </a:prstGeom>
          <a:solidFill>
            <a:srgbClr val="5C7AEA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95160" y="4599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995160" y="50566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lost — blocky JPEG / video artifacts.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ITA0504 · COMPUTER VISION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of Image Distortion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lens bends light unevenly.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73736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52360" y="1783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low resolution distort pixels.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5C7AE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828800" y="4389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53035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Fog, rain, motion blur, camera shake.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172200" y="402336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52360" y="4389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53035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JPEG / video encoding adds artifacts.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ITA0504 · COMPUTER VISION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on Processing &amp; Tools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983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447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25856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209397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loses accuracy.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05409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88950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matching fails (stitching, 3D).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84962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6850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&amp; segmentation turn unreliable.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464515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4480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misreads warped text.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544068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52760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 miscalculate distance.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4447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Tools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63640" y="2148840"/>
            <a:ext cx="128016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537960" y="25328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undistort() removes lens warping.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128016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 Calibration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537960" y="35844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pattern computes distortion values.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4251960"/>
            <a:ext cx="128016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Toolbox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537960" y="4636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Visualize, filter, de-noise images.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3640" y="5303520"/>
            <a:ext cx="128016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(PIL / scikit-image)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6537960" y="56875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denoise &amp; contrast fixes.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ITA0504 · COMPUTER VISION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undistorted live for lane detection.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73736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52360" y="1783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MRI/X-ray corrected for accurate diagnosis.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5C7AE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828800" y="4389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53035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warping fixed for accurate matching.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172200" y="4023360"/>
            <a:ext cx="5349240" cy="2331720"/>
          </a:xfrm>
          <a:prstGeom prst="rect">
            <a:avLst/>
          </a:prstGeom>
          <a:solidFill>
            <a:srgbClr val="EEF1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52360" y="4389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53035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Drone/satellite images corrected before mapping.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ITA0504 · COMPUTER VISION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822960"/>
            <a:ext cx="4023360" cy="4023360"/>
          </a:xfrm>
          <a:prstGeom prst="ellipse">
            <a:avLst/>
          </a:prstGeom>
          <a:ln w="1905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9184" y="-420624"/>
            <a:ext cx="3218688" cy="3218688"/>
          </a:xfrm>
          <a:prstGeom prst="ellipse">
            <a:avLst/>
          </a:prstGeom>
          <a:ln w="19050">
            <a:solidFill>
              <a:srgbClr val="CADCFC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-18288"/>
            <a:ext cx="2414016" cy="2414016"/>
          </a:xfrm>
          <a:prstGeom prst="ellipse">
            <a:avLst/>
          </a:prstGeom>
          <a:ln w="19050">
            <a:solidFill>
              <a:srgbClr val="CADCFC">
                <a:alpha val="5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384048"/>
            <a:ext cx="1609344" cy="1609344"/>
          </a:xfrm>
          <a:prstGeom prst="ellipse">
            <a:avLst/>
          </a:prstGeom>
          <a:ln w="19050">
            <a:solidFill>
              <a:srgbClr val="CADCFC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786384"/>
            <a:ext cx="804672" cy="804672"/>
          </a:xfrm>
          <a:prstGeom prst="ellipse">
            <a:avLst/>
          </a:prstGeom>
          <a:ln w="19050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297680"/>
            <a:ext cx="2926080" cy="2926080"/>
          </a:xfrm>
          <a:prstGeom prst="ellipse">
            <a:avLst/>
          </a:prstGeom>
          <a:ln w="1905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4785360"/>
            <a:ext cx="1950720" cy="1950720"/>
          </a:xfrm>
          <a:prstGeom prst="ellipse">
            <a:avLst/>
          </a:prstGeom>
          <a:ln w="19050">
            <a:solidFill>
              <a:srgbClr val="FF6B35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93680" y="5273040"/>
            <a:ext cx="975360" cy="975360"/>
          </a:xfrm>
          <a:prstGeom prst="ellipse">
            <a:avLst/>
          </a:prstGeom>
          <a:ln w="19050">
            <a:solidFill>
              <a:srgbClr val="FF6B35">
                <a:alpha val="5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84648" y="4434840"/>
            <a:ext cx="18288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09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Mathusri P   |   Reg No: 192311363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ITA0504 – Computer Vision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2026-07-16T04:37:12Z</dcterms:created>
  <dcterms:modified xsi:type="dcterms:W3CDTF">2026-07-16T04:37:12Z</dcterms:modified>
</cp:coreProperties>
</file>